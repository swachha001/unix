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16"/>
      <p:bold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ZkNQzsHqK4U+/lUWLpT/VwiJ5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1" name="Google Shape;81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9" name="Google Shape;10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6" name="Google Shape;156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9" name="Google Shape;21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4" name="Google Shape;264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4" name="Google Shape;29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3" name="Google Shape;353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3" name="Google Shape;383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6" name="Google Shape;396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5" name="Google Shape;425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DC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8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Presentation Topic: UNIX Operating System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457200" y="21945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Course Title: Operating System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57200" y="24871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Course Code: </a:t>
            </a:r>
            <a:r>
              <a:rPr lang="en-US" sz="1300" b="1" dirty="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ICT</a:t>
            </a:r>
            <a:r>
              <a:rPr lang="en-US" sz="1300" b="1" i="0" u="none" strike="noStrike" cap="none" dirty="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300" b="1" dirty="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lang="en-US" sz="1300" b="1" i="0" u="none" strike="noStrike" cap="none" dirty="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2816352"/>
            <a:ext cx="8229600" cy="36576"/>
          </a:xfrm>
          <a:prstGeom prst="rect">
            <a:avLst/>
          </a:prstGeom>
          <a:solidFill>
            <a:srgbClr val="6AADBA"/>
          </a:solidFill>
          <a:ln w="12700" cap="flat" cmpd="sng">
            <a:solidFill>
              <a:srgbClr val="6AA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29077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Presented By 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0" y="29077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Supervised By 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163824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Swapnil Nag Swachha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ID: </a:t>
            </a:r>
            <a:r>
              <a:rPr lang="en-US" sz="11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IT24001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Department of </a:t>
            </a:r>
            <a:r>
              <a:rPr lang="en-US" sz="11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Information &amp; Communication Technology</a:t>
            </a:r>
            <a:r>
              <a:rPr lang="en-US" sz="1100" b="0" i="0" u="none" strike="noStrike" cap="none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MBSTU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0" y="3163824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Nazrul Islam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Associate professor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r>
              <a:rPr lang="en-US" sz="11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 of Information &amp; Communication Technology</a:t>
            </a:r>
            <a:r>
              <a:rPr lang="en-US" sz="1100" b="0" i="0" u="none" strike="noStrike" cap="none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MBSTU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1" title="MBSTU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1850" y="96680"/>
            <a:ext cx="1097300" cy="109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DC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1A2E3A"/>
                </a:solidFill>
                <a:latin typeface="Arial Black"/>
                <a:ea typeface="Arial Black"/>
                <a:cs typeface="Arial Black"/>
                <a:sym typeface="Arial Black"/>
              </a:rPr>
              <a:t>WHAT IS UNIX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65760" y="694944"/>
            <a:ext cx="2377440" cy="41148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65760" y="822960"/>
            <a:ext cx="5303520" cy="3749040"/>
          </a:xfrm>
          <a:prstGeom prst="rect">
            <a:avLst/>
          </a:prstGeom>
          <a:solidFill>
            <a:srgbClr val="6AADBA">
              <a:alpha val="74901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02920" y="914400"/>
            <a:ext cx="5029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UNIX </a:t>
            </a:r>
            <a:r>
              <a:rPr lang="en-US" sz="14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is a powerful, multi-user, multitasking operating system.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1A2E3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Developed </a:t>
            </a:r>
            <a:r>
              <a:rPr lang="en-US" sz="14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at Bell Labs by Ken Thompson &amp; Dennis Ritchie in 1969.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1A2E3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Written in C language, </a:t>
            </a:r>
            <a:r>
              <a:rPr lang="en-US" sz="14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making it portable across different hardware.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1A2E3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Foundation </a:t>
            </a:r>
            <a:r>
              <a:rPr lang="en-US" sz="14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for modern OSes like Linux, macOS, Android, and iOS.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1A2E3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Widely used </a:t>
            </a:r>
            <a:r>
              <a:rPr lang="en-US" sz="14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in servers, workstations, and supercomputers worldwide.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943600" y="822960"/>
            <a:ext cx="2834640" cy="128016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" name="Google Shape;36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6480" y="88696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6720840" y="868680"/>
            <a:ext cx="19202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$ uname -a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Linux unix-os 5.15.0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GNU/Linux x86_64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943600" y="2286000"/>
            <a:ext cx="2834640" cy="105156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" name="Google Shape;3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0760" y="23957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6656832" y="2331720"/>
            <a:ext cx="20116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Born: Bell Labs, 1969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Language: 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Family: POSIX / Unix-like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943600" y="3456432"/>
            <a:ext cx="2834640" cy="11155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035040" y="3511296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3D8FA0"/>
                </a:solidFill>
                <a:latin typeface="Calibri"/>
                <a:ea typeface="Calibri"/>
                <a:cs typeface="Calibri"/>
                <a:sym typeface="Calibri"/>
              </a:rPr>
              <a:t>"The UNIX philosophy: Write programs that do one thing and do it well."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DC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1A2E3A"/>
                </a:solidFill>
                <a:latin typeface="Arial Black"/>
                <a:ea typeface="Arial Black"/>
                <a:cs typeface="Arial Black"/>
                <a:sym typeface="Arial Black"/>
              </a:rPr>
              <a:t>HISTORY OF UNIX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65760" y="694944"/>
            <a:ext cx="2377440" cy="41148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274320" y="804672"/>
            <a:ext cx="914400" cy="86868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274320" y="804672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1969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207008" y="804672"/>
            <a:ext cx="3337560" cy="868680"/>
          </a:xfrm>
          <a:prstGeom prst="rect">
            <a:avLst/>
          </a:prstGeom>
          <a:solidFill>
            <a:srgbClr val="6AADBA">
              <a:alpha val="70196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280160" y="804672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Ken Thompson &amp; Dennis Ritchie develop UNIX at Bell Labs (AT&amp;T).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74320" y="1920240"/>
            <a:ext cx="914400" cy="868680"/>
          </a:xfrm>
          <a:prstGeom prst="rect">
            <a:avLst/>
          </a:prstGeom>
          <a:solidFill>
            <a:srgbClr val="2E7D8A"/>
          </a:solidFill>
          <a:ln w="12700" cap="flat" cmpd="sng">
            <a:solidFill>
              <a:srgbClr val="2E7D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274320" y="192024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1973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207008" y="1920240"/>
            <a:ext cx="3337560" cy="868680"/>
          </a:xfrm>
          <a:prstGeom prst="rect">
            <a:avLst/>
          </a:prstGeom>
          <a:solidFill>
            <a:srgbClr val="6AADBA">
              <a:alpha val="70196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280160" y="192024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UNIX rewritten in C language — first portable 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74320" y="3035808"/>
            <a:ext cx="914400" cy="86868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74320" y="3035808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1977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207008" y="3035808"/>
            <a:ext cx="3337560" cy="868680"/>
          </a:xfrm>
          <a:prstGeom prst="rect">
            <a:avLst/>
          </a:prstGeom>
          <a:solidFill>
            <a:srgbClr val="6AADBA">
              <a:alpha val="70196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1280160" y="3035808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BSD (Berkeley Software Distribution) released by UC Berkeley.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709160" y="804672"/>
            <a:ext cx="914400" cy="8686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709160" y="804672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1983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641848" y="804672"/>
            <a:ext cx="3291840" cy="868680"/>
          </a:xfrm>
          <a:prstGeom prst="rect">
            <a:avLst/>
          </a:prstGeom>
          <a:solidFill>
            <a:srgbClr val="6AADBA">
              <a:alpha val="70196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5715000" y="804672"/>
            <a:ext cx="3154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Richard Stallman launches GNU Project (free UNIX-like software).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709160" y="1920240"/>
            <a:ext cx="914400" cy="8686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709160" y="192024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1991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641848" y="1920240"/>
            <a:ext cx="3291840" cy="868680"/>
          </a:xfrm>
          <a:prstGeom prst="rect">
            <a:avLst/>
          </a:prstGeom>
          <a:solidFill>
            <a:srgbClr val="6AADBA">
              <a:alpha val="70196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715000" y="1920240"/>
            <a:ext cx="3154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Linus Torvalds creates Linux kernel, inspired by UNIX.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709160" y="3035808"/>
            <a:ext cx="914400" cy="868680"/>
          </a:xfrm>
          <a:prstGeom prst="rect">
            <a:avLst/>
          </a:prstGeom>
          <a:solidFill>
            <a:srgbClr val="5AADBA"/>
          </a:solidFill>
          <a:ln w="12700" cap="flat" cmpd="sng">
            <a:solidFill>
              <a:srgbClr val="5AA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709160" y="3035808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lang="en-US"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2000s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641848" y="3035808"/>
            <a:ext cx="3291840" cy="868680"/>
          </a:xfrm>
          <a:prstGeom prst="rect">
            <a:avLst/>
          </a:prstGeom>
          <a:solidFill>
            <a:srgbClr val="6AADBA">
              <a:alpha val="70196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715000" y="3035808"/>
            <a:ext cx="3154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UNIX influences macOS, Android, iOS, and cloud infrastructure.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DC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1A2E3A"/>
                </a:solidFill>
                <a:latin typeface="Arial Black"/>
                <a:ea typeface="Arial Black"/>
                <a:cs typeface="Arial Black"/>
                <a:sym typeface="Arial Black"/>
              </a:rPr>
              <a:t>UNIX ARCHITECTURE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65760" y="694944"/>
            <a:ext cx="2377440" cy="41148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274320" y="804672"/>
            <a:ext cx="3840480" cy="658368"/>
          </a:xfrm>
          <a:prstGeom prst="rect">
            <a:avLst/>
          </a:prstGeom>
          <a:solidFill>
            <a:srgbClr val="F0A500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74320" y="80467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Applications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645920" y="1463040"/>
            <a:ext cx="54864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D8FA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74320" y="1554480"/>
            <a:ext cx="3840480" cy="658368"/>
          </a:xfrm>
          <a:prstGeom prst="rect">
            <a:avLst/>
          </a:prstGeom>
          <a:solidFill>
            <a:srgbClr val="E8892B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274320" y="155448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Shell (Command Interpreter)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645920" y="2212848"/>
            <a:ext cx="54864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D8FA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74320" y="2304288"/>
            <a:ext cx="3840480" cy="658368"/>
          </a:xfrm>
          <a:prstGeom prst="rect">
            <a:avLst/>
          </a:prstGeom>
          <a:solidFill>
            <a:srgbClr val="6AADBA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274320" y="2304288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System Calls Interface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645920" y="2962656"/>
            <a:ext cx="54864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D8FA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74320" y="3054096"/>
            <a:ext cx="3840480" cy="658368"/>
          </a:xfrm>
          <a:prstGeom prst="rect">
            <a:avLst/>
          </a:prstGeom>
          <a:solidFill>
            <a:srgbClr val="3D8FA0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274320" y="3054096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Kernel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645920" y="3712464"/>
            <a:ext cx="54864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D8FA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74320" y="3803904"/>
            <a:ext cx="3840480" cy="658368"/>
          </a:xfrm>
          <a:prstGeom prst="rect">
            <a:avLst/>
          </a:prstGeom>
          <a:solidFill>
            <a:srgbClr val="1A2E3A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274320" y="3803904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480560" y="804672"/>
            <a:ext cx="4297680" cy="3767328"/>
          </a:xfrm>
          <a:prstGeom prst="rect">
            <a:avLst/>
          </a:prstGeom>
          <a:solidFill>
            <a:srgbClr val="6AADBA">
              <a:alpha val="74901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617720" y="8686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Key Components: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72000" y="1188720"/>
            <a:ext cx="40690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Kernel: </a:t>
            </a:r>
            <a:r>
              <a:rPr lang="en-US" sz="12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Core of UNIX. Manages CPU, memory, devices, and processes.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Shell: </a:t>
            </a:r>
            <a:r>
              <a:rPr lang="en-US" sz="12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Interface between user and kernel. Interprets commands (bash, sh, csh).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System Calls: </a:t>
            </a:r>
            <a:r>
              <a:rPr lang="en-US" sz="12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Programs communicate with the kernel via system calls.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File System: </a:t>
            </a:r>
            <a:r>
              <a:rPr lang="en-US" sz="12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Hierarchical structure starting from root '/' directory.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Utilities: </a:t>
            </a:r>
            <a:r>
              <a:rPr lang="en-US" sz="12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Built-in commands like ls, cp, grep, awk, sed.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DC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1A2E3A"/>
                </a:solidFill>
                <a:latin typeface="Arial Black"/>
                <a:ea typeface="Arial Black"/>
                <a:cs typeface="Arial Black"/>
                <a:sym typeface="Arial Black"/>
              </a:rPr>
              <a:t>UNIX FILE SYSTEM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65760" y="694944"/>
            <a:ext cx="2377440" cy="41148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3931920" y="841248"/>
            <a:ext cx="1280100" cy="50280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3931920" y="841248"/>
            <a:ext cx="1280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  (Root)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5"/>
          <p:cNvCxnSpPr/>
          <p:nvPr/>
        </p:nvCxnSpPr>
        <p:spPr>
          <a:xfrm>
            <a:off x="4572000" y="1344168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5"/>
          <p:cNvCxnSpPr/>
          <p:nvPr/>
        </p:nvCxnSpPr>
        <p:spPr>
          <a:xfrm>
            <a:off x="182865" y="1699003"/>
            <a:ext cx="8046600" cy="0"/>
          </a:xfrm>
          <a:prstGeom prst="straightConnector1">
            <a:avLst/>
          </a:prstGeom>
          <a:noFill/>
          <a:ln w="1905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" name="Google Shape;119;p5"/>
          <p:cNvCxnSpPr/>
          <p:nvPr/>
        </p:nvCxnSpPr>
        <p:spPr>
          <a:xfrm>
            <a:off x="777240" y="1709928"/>
            <a:ext cx="0" cy="301752"/>
          </a:xfrm>
          <a:prstGeom prst="straightConnector1">
            <a:avLst/>
          </a:prstGeom>
          <a:noFill/>
          <a:ln w="1905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5"/>
          <p:cNvSpPr/>
          <p:nvPr/>
        </p:nvSpPr>
        <p:spPr>
          <a:xfrm>
            <a:off x="182880" y="2011680"/>
            <a:ext cx="1188720" cy="475488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182880" y="2011680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/bin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82880" y="2514600"/>
            <a:ext cx="1188720" cy="640080"/>
          </a:xfrm>
          <a:prstGeom prst="rect">
            <a:avLst/>
          </a:prstGeom>
          <a:solidFill>
            <a:srgbClr val="6AADBA">
              <a:alpha val="65098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219456" y="2514600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Essential binaries (ls, cp)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5"/>
          <p:cNvCxnSpPr/>
          <p:nvPr/>
        </p:nvCxnSpPr>
        <p:spPr>
          <a:xfrm>
            <a:off x="2103120" y="1709928"/>
            <a:ext cx="0" cy="301752"/>
          </a:xfrm>
          <a:prstGeom prst="straightConnector1">
            <a:avLst/>
          </a:prstGeom>
          <a:noFill/>
          <a:ln w="1905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Google Shape;125;p5"/>
          <p:cNvSpPr/>
          <p:nvPr/>
        </p:nvSpPr>
        <p:spPr>
          <a:xfrm>
            <a:off x="1508760" y="2011680"/>
            <a:ext cx="1188720" cy="475488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1508760" y="2011680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/etc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508760" y="2514600"/>
            <a:ext cx="1188720" cy="640080"/>
          </a:xfrm>
          <a:prstGeom prst="rect">
            <a:avLst/>
          </a:prstGeom>
          <a:solidFill>
            <a:srgbClr val="6AADBA">
              <a:alpha val="65098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1545336" y="2514600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Config files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5"/>
          <p:cNvCxnSpPr/>
          <p:nvPr/>
        </p:nvCxnSpPr>
        <p:spPr>
          <a:xfrm>
            <a:off x="3429000" y="1709928"/>
            <a:ext cx="0" cy="301752"/>
          </a:xfrm>
          <a:prstGeom prst="straightConnector1">
            <a:avLst/>
          </a:prstGeom>
          <a:noFill/>
          <a:ln w="1905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5"/>
          <p:cNvSpPr/>
          <p:nvPr/>
        </p:nvSpPr>
        <p:spPr>
          <a:xfrm>
            <a:off x="2834640" y="2011680"/>
            <a:ext cx="1188720" cy="475488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2834640" y="2011680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/home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834640" y="2514600"/>
            <a:ext cx="1188720" cy="640080"/>
          </a:xfrm>
          <a:prstGeom prst="rect">
            <a:avLst/>
          </a:prstGeom>
          <a:solidFill>
            <a:srgbClr val="6AADBA">
              <a:alpha val="65098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2871216" y="2514600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User home dirs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5"/>
          <p:cNvCxnSpPr/>
          <p:nvPr/>
        </p:nvCxnSpPr>
        <p:spPr>
          <a:xfrm>
            <a:off x="4754880" y="1709928"/>
            <a:ext cx="0" cy="301752"/>
          </a:xfrm>
          <a:prstGeom prst="straightConnector1">
            <a:avLst/>
          </a:prstGeom>
          <a:noFill/>
          <a:ln w="1905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5"/>
          <p:cNvSpPr/>
          <p:nvPr/>
        </p:nvSpPr>
        <p:spPr>
          <a:xfrm>
            <a:off x="4160520" y="2011680"/>
            <a:ext cx="1188720" cy="475488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4160520" y="2011680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/var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160520" y="2514600"/>
            <a:ext cx="1188720" cy="640080"/>
          </a:xfrm>
          <a:prstGeom prst="rect">
            <a:avLst/>
          </a:prstGeom>
          <a:solidFill>
            <a:srgbClr val="6AADBA">
              <a:alpha val="65098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4197096" y="2514600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Variable data (logs)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5"/>
          <p:cNvCxnSpPr/>
          <p:nvPr/>
        </p:nvCxnSpPr>
        <p:spPr>
          <a:xfrm>
            <a:off x="6080760" y="1709928"/>
            <a:ext cx="0" cy="301752"/>
          </a:xfrm>
          <a:prstGeom prst="straightConnector1">
            <a:avLst/>
          </a:prstGeom>
          <a:noFill/>
          <a:ln w="1905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5"/>
          <p:cNvSpPr/>
          <p:nvPr/>
        </p:nvSpPr>
        <p:spPr>
          <a:xfrm>
            <a:off x="5486400" y="2011680"/>
            <a:ext cx="1188720" cy="475488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486400" y="2011680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/usr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486400" y="2514600"/>
            <a:ext cx="1188720" cy="640080"/>
          </a:xfrm>
          <a:prstGeom prst="rect">
            <a:avLst/>
          </a:prstGeom>
          <a:solidFill>
            <a:srgbClr val="6AADBA">
              <a:alpha val="65098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522976" y="2514600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User programs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5"/>
          <p:cNvCxnSpPr/>
          <p:nvPr/>
        </p:nvCxnSpPr>
        <p:spPr>
          <a:xfrm>
            <a:off x="7406640" y="1709928"/>
            <a:ext cx="0" cy="301752"/>
          </a:xfrm>
          <a:prstGeom prst="straightConnector1">
            <a:avLst/>
          </a:prstGeom>
          <a:noFill/>
          <a:ln w="1905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5"/>
          <p:cNvSpPr/>
          <p:nvPr/>
        </p:nvSpPr>
        <p:spPr>
          <a:xfrm>
            <a:off x="6812280" y="2011680"/>
            <a:ext cx="1188720" cy="475488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812280" y="2011680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/tmp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812280" y="2514600"/>
            <a:ext cx="1188720" cy="640080"/>
          </a:xfrm>
          <a:prstGeom prst="rect">
            <a:avLst/>
          </a:prstGeom>
          <a:solidFill>
            <a:srgbClr val="6AADBA">
              <a:alpha val="65098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848856" y="2514600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Temporary files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82870" y="3282653"/>
            <a:ext cx="8595300" cy="1298400"/>
          </a:xfrm>
          <a:prstGeom prst="rect">
            <a:avLst/>
          </a:prstGeom>
          <a:solidFill>
            <a:srgbClr val="6AADBA">
              <a:alpha val="74901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82880" y="3392492"/>
            <a:ext cx="83211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Everything is a file </a:t>
            </a:r>
            <a:r>
              <a:rPr lang="en-US" sz="12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— devices, directories, and processes are treated as files in UNIX.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A2E3A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Hierarchical structure </a:t>
            </a:r>
            <a:r>
              <a:rPr lang="en-US" sz="12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— single-root tree starting from '/' (root directory).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A2E3A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Permissions system </a:t>
            </a:r>
            <a:r>
              <a:rPr lang="en-US" sz="12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— each file has read (r), write (w), execute (x) for owner, group, others.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DC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1A2E3A"/>
                </a:solidFill>
                <a:latin typeface="Arial Black"/>
                <a:ea typeface="Arial Black"/>
                <a:cs typeface="Arial Black"/>
                <a:sym typeface="Arial Black"/>
              </a:rPr>
              <a:t>UNIX SHELL &amp; COMMANDS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65760" y="694944"/>
            <a:ext cx="2377440" cy="41148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274320" y="804672"/>
            <a:ext cx="3200400" cy="2011680"/>
          </a:xfrm>
          <a:prstGeom prst="rect">
            <a:avLst/>
          </a:prstGeom>
          <a:solidFill>
            <a:srgbClr val="6AADBA">
              <a:alpha val="74901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11480" y="84124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Common Shells: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11480" y="11430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100"/>
              <a:buFont typeface="Consolas"/>
              <a:buNone/>
            </a:pPr>
            <a:r>
              <a:rPr lang="en-US" sz="1100" b="1">
                <a:solidFill>
                  <a:srgbClr val="3D8FA0"/>
                </a:solidFill>
                <a:latin typeface="Consolas"/>
                <a:ea typeface="Consolas"/>
                <a:cs typeface="Consolas"/>
                <a:sym typeface="Consolas"/>
              </a:rPr>
              <a:t>sh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078992" y="11430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— Bourne Shell (original)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11480" y="14630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100"/>
              <a:buFont typeface="Consolas"/>
              <a:buNone/>
            </a:pPr>
            <a:r>
              <a:rPr lang="en-US" sz="1100" b="1">
                <a:solidFill>
                  <a:srgbClr val="3D8FA0"/>
                </a:solidFill>
                <a:latin typeface="Consolas"/>
                <a:ea typeface="Consolas"/>
                <a:cs typeface="Consolas"/>
                <a:sym typeface="Consolas"/>
              </a:rPr>
              <a:t>bash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078992" y="14630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— Bourne Again Shell (most popular)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11480" y="1783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100"/>
              <a:buFont typeface="Consolas"/>
              <a:buNone/>
            </a:pPr>
            <a:r>
              <a:rPr lang="en-US" sz="1100" b="1">
                <a:solidFill>
                  <a:srgbClr val="3D8FA0"/>
                </a:solidFill>
                <a:latin typeface="Consolas"/>
                <a:ea typeface="Consolas"/>
                <a:cs typeface="Consolas"/>
                <a:sym typeface="Consolas"/>
              </a:rPr>
              <a:t>csh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78992" y="17830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— C Shell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11480" y="21031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100"/>
              <a:buFont typeface="Consolas"/>
              <a:buNone/>
            </a:pPr>
            <a:r>
              <a:rPr lang="en-US" sz="1100" b="1">
                <a:solidFill>
                  <a:srgbClr val="3D8FA0"/>
                </a:solidFill>
                <a:latin typeface="Consolas"/>
                <a:ea typeface="Consolas"/>
                <a:cs typeface="Consolas"/>
                <a:sym typeface="Consolas"/>
              </a:rPr>
              <a:t>ksh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078992" y="21031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— Korn Shell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11480" y="24231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100"/>
              <a:buFont typeface="Consolas"/>
              <a:buNone/>
            </a:pPr>
            <a:r>
              <a:rPr lang="en-US" sz="1100" b="1">
                <a:solidFill>
                  <a:srgbClr val="3D8FA0"/>
                </a:solidFill>
                <a:latin typeface="Consolas"/>
                <a:ea typeface="Consolas"/>
                <a:cs typeface="Consolas"/>
                <a:sym typeface="Consolas"/>
              </a:rPr>
              <a:t>zsh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078992" y="24231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— Z Shell (modern, feature-rich)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657600" y="80467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Essential Commands: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657600" y="1170432"/>
            <a:ext cx="1737360" cy="59436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3703320" y="11704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703320" y="14721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List directory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486400" y="1170432"/>
            <a:ext cx="1737360" cy="59436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5532120" y="11704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532120" y="14721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Change directory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7315200" y="1170432"/>
            <a:ext cx="1737360" cy="59436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7360920" y="11704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pwd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7360920" y="14721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Print work dir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657600" y="1856232"/>
            <a:ext cx="1737360" cy="59436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3703320" y="18562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3703320" y="21579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Copy files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486400" y="1856232"/>
            <a:ext cx="1737360" cy="59436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532120" y="18562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mv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532120" y="21579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Move/rename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315200" y="1856232"/>
            <a:ext cx="1737360" cy="59436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7360920" y="18562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rm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7360920" y="21579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Remove files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657600" y="2542032"/>
            <a:ext cx="1737360" cy="59436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3703320" y="25420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grep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703320" y="28437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Search 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486400" y="2542032"/>
            <a:ext cx="1737360" cy="59436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5532120" y="25420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chmod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532120" y="28437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Change permissions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7315200" y="2542032"/>
            <a:ext cx="1737360" cy="59436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7360920" y="25420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360920" y="28437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List processes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657600" y="3227832"/>
            <a:ext cx="1737360" cy="59436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3703320" y="32278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kill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703320" y="35295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Terminate process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486400" y="3227832"/>
            <a:ext cx="1737360" cy="59436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5532120" y="32278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532120" y="35295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Manual pages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7315200" y="3227832"/>
            <a:ext cx="1737360" cy="59436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7360920" y="32278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pipe |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7360920" y="352958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Chain commands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74320" y="2871216"/>
            <a:ext cx="3200400" cy="1719072"/>
          </a:xfrm>
          <a:prstGeom prst="rect">
            <a:avLst/>
          </a:prstGeom>
          <a:solidFill>
            <a:srgbClr val="6AADBA">
              <a:alpha val="74901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411480" y="29260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💡 Pro Tip — Pipes &amp; Redirection: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11480" y="3218688"/>
            <a:ext cx="292608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3D8FA0"/>
                </a:solidFill>
                <a:latin typeface="Consolas"/>
                <a:ea typeface="Consolas"/>
                <a:cs typeface="Consolas"/>
                <a:sym typeface="Consolas"/>
              </a:rPr>
              <a:t>ls -l | grep '.txt' | wc -l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3D8FA0"/>
                </a:solidFill>
                <a:latin typeface="Consolas"/>
                <a:ea typeface="Consolas"/>
                <a:cs typeface="Consolas"/>
                <a:sym typeface="Consolas"/>
              </a:rPr>
              <a:t>&gt; output.txt  (redirect to file)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3D8FA0"/>
                </a:solidFill>
                <a:latin typeface="Consolas"/>
                <a:ea typeface="Consolas"/>
                <a:cs typeface="Consolas"/>
                <a:sym typeface="Consolas"/>
              </a:rPr>
              <a:t>&lt; input.txt   (input from file)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DC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1A2E3A"/>
                </a:solidFill>
                <a:latin typeface="Arial Black"/>
                <a:ea typeface="Arial Black"/>
                <a:cs typeface="Arial Black"/>
                <a:sym typeface="Arial Black"/>
              </a:rPr>
              <a:t>UNIX PROCESSES &amp; MULTITASKING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365760" y="694944"/>
            <a:ext cx="2377440" cy="41148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274320" y="804672"/>
            <a:ext cx="5029200" cy="3749040"/>
          </a:xfrm>
          <a:prstGeom prst="rect">
            <a:avLst/>
          </a:prstGeom>
          <a:solidFill>
            <a:srgbClr val="6AADBA">
              <a:alpha val="74901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11480" y="868680"/>
            <a:ext cx="48006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Process: </a:t>
            </a:r>
            <a:r>
              <a:rPr lang="en-US" sz="13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A running instance of a program. Each has a unique PID (Process ID).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Multitasking: </a:t>
            </a:r>
            <a:r>
              <a:rPr lang="en-US" sz="13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UNIX can run many processes simultaneously using time-sharing.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Foreground/Background: </a:t>
            </a:r>
            <a:r>
              <a:rPr lang="en-US" sz="13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Processes can run in the foreground or background (&amp;).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fork() &amp; exec(): </a:t>
            </a:r>
            <a:r>
              <a:rPr lang="en-US" sz="13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New processes created by forking a parent process.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Daemon processes: </a:t>
            </a:r>
            <a:r>
              <a:rPr lang="en-US" sz="13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Background services (e.g., httpd, sshd) that run silently.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kill / signals: </a:t>
            </a:r>
            <a:r>
              <a:rPr lang="en-US" sz="13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Processes communicate via signals (SIGKILL, SIGTERM, SIGHUP).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492240" y="804672"/>
            <a:ext cx="1325880" cy="475488"/>
          </a:xfrm>
          <a:prstGeom prst="ellipse">
            <a:avLst/>
          </a:prstGeom>
          <a:solidFill>
            <a:srgbClr val="27AE6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6492240" y="804672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492240" y="1508760"/>
            <a:ext cx="1325880" cy="475488"/>
          </a:xfrm>
          <a:prstGeom prst="ellipse">
            <a:avLst/>
          </a:prstGeom>
          <a:solidFill>
            <a:srgbClr val="3D8FA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6492240" y="1508760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492240" y="2212848"/>
            <a:ext cx="1325880" cy="475488"/>
          </a:xfrm>
          <a:prstGeom prst="ellipse">
            <a:avLst/>
          </a:prstGeom>
          <a:solidFill>
            <a:srgbClr val="F0A50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6492240" y="2212848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092440" y="2212848"/>
            <a:ext cx="1325880" cy="475488"/>
          </a:xfrm>
          <a:prstGeom prst="ellipse">
            <a:avLst/>
          </a:prstGeom>
          <a:solidFill>
            <a:srgbClr val="E8892B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8092440" y="2212848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Waiting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492240" y="2916936"/>
            <a:ext cx="1325880" cy="475488"/>
          </a:xfrm>
          <a:prstGeom prst="ellipse">
            <a:avLst/>
          </a:prstGeom>
          <a:solidFill>
            <a:srgbClr val="C0392B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6492240" y="2916936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Terminated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7"/>
          <p:cNvCxnSpPr/>
          <p:nvPr/>
        </p:nvCxnSpPr>
        <p:spPr>
          <a:xfrm>
            <a:off x="7155180" y="1280160"/>
            <a:ext cx="914" cy="228600"/>
          </a:xfrm>
          <a:prstGeom prst="straightConnector1">
            <a:avLst/>
          </a:prstGeom>
          <a:noFill/>
          <a:ln w="2285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8" name="Google Shape;238;p7"/>
          <p:cNvSpPr/>
          <p:nvPr/>
        </p:nvSpPr>
        <p:spPr>
          <a:xfrm>
            <a:off x="7100316" y="1453896"/>
            <a:ext cx="109728" cy="109728"/>
          </a:xfrm>
          <a:prstGeom prst="rect">
            <a:avLst/>
          </a:prstGeom>
          <a:solidFill>
            <a:srgbClr val="1A2E3A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7191756" y="12115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admitted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7"/>
          <p:cNvCxnSpPr/>
          <p:nvPr/>
        </p:nvCxnSpPr>
        <p:spPr>
          <a:xfrm>
            <a:off x="7155180" y="1984248"/>
            <a:ext cx="914" cy="228600"/>
          </a:xfrm>
          <a:prstGeom prst="straightConnector1">
            <a:avLst/>
          </a:prstGeom>
          <a:noFill/>
          <a:ln w="2285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1" name="Google Shape;241;p7"/>
          <p:cNvSpPr/>
          <p:nvPr/>
        </p:nvSpPr>
        <p:spPr>
          <a:xfrm>
            <a:off x="7100316" y="2157984"/>
            <a:ext cx="109728" cy="109728"/>
          </a:xfrm>
          <a:prstGeom prst="rect">
            <a:avLst/>
          </a:prstGeom>
          <a:solidFill>
            <a:srgbClr val="1A2E3A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7191756" y="191566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scheduled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7"/>
          <p:cNvCxnSpPr/>
          <p:nvPr/>
        </p:nvCxnSpPr>
        <p:spPr>
          <a:xfrm>
            <a:off x="7155180" y="2688336"/>
            <a:ext cx="914" cy="228600"/>
          </a:xfrm>
          <a:prstGeom prst="straightConnector1">
            <a:avLst/>
          </a:prstGeom>
          <a:noFill/>
          <a:ln w="2285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4" name="Google Shape;244;p7"/>
          <p:cNvSpPr/>
          <p:nvPr/>
        </p:nvSpPr>
        <p:spPr>
          <a:xfrm>
            <a:off x="7100316" y="2862072"/>
            <a:ext cx="109728" cy="109728"/>
          </a:xfrm>
          <a:prstGeom prst="rect">
            <a:avLst/>
          </a:prstGeom>
          <a:solidFill>
            <a:srgbClr val="1A2E3A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7191756" y="26197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exit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7"/>
          <p:cNvCxnSpPr/>
          <p:nvPr/>
        </p:nvCxnSpPr>
        <p:spPr>
          <a:xfrm>
            <a:off x="7818120" y="2450592"/>
            <a:ext cx="274320" cy="914"/>
          </a:xfrm>
          <a:prstGeom prst="straightConnector1">
            <a:avLst/>
          </a:prstGeom>
          <a:noFill/>
          <a:ln w="2285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7" name="Google Shape;247;p7"/>
          <p:cNvSpPr/>
          <p:nvPr/>
        </p:nvSpPr>
        <p:spPr>
          <a:xfrm>
            <a:off x="8037576" y="2395728"/>
            <a:ext cx="109728" cy="109728"/>
          </a:xfrm>
          <a:prstGeom prst="rect">
            <a:avLst/>
          </a:prstGeom>
          <a:solidFill>
            <a:srgbClr val="1A2E3A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7635244" y="2183137"/>
            <a:ext cx="914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I/O wait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7"/>
          <p:cNvCxnSpPr/>
          <p:nvPr/>
        </p:nvCxnSpPr>
        <p:spPr>
          <a:xfrm rot="10800000" flipH="1">
            <a:off x="8755380" y="1746504"/>
            <a:ext cx="914" cy="466344"/>
          </a:xfrm>
          <a:prstGeom prst="straightConnector1">
            <a:avLst/>
          </a:prstGeom>
          <a:noFill/>
          <a:ln w="2285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0" name="Google Shape;250;p7"/>
          <p:cNvCxnSpPr/>
          <p:nvPr/>
        </p:nvCxnSpPr>
        <p:spPr>
          <a:xfrm>
            <a:off x="7818120" y="1746504"/>
            <a:ext cx="937260" cy="914"/>
          </a:xfrm>
          <a:prstGeom prst="straightConnector1">
            <a:avLst/>
          </a:prstGeom>
          <a:noFill/>
          <a:ln w="2285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" name="Google Shape;251;p7"/>
          <p:cNvSpPr/>
          <p:nvPr/>
        </p:nvSpPr>
        <p:spPr>
          <a:xfrm>
            <a:off x="7863840" y="1545336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I/O done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7763256" y="1691640"/>
            <a:ext cx="109728" cy="109728"/>
          </a:xfrm>
          <a:prstGeom prst="rect">
            <a:avLst/>
          </a:prstGeom>
          <a:solidFill>
            <a:srgbClr val="1A2E3A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3" name="Google Shape;253;p7"/>
          <p:cNvCxnSpPr/>
          <p:nvPr/>
        </p:nvCxnSpPr>
        <p:spPr>
          <a:xfrm>
            <a:off x="6080760" y="2450592"/>
            <a:ext cx="411480" cy="914"/>
          </a:xfrm>
          <a:prstGeom prst="straightConnector1">
            <a:avLst/>
          </a:prstGeom>
          <a:noFill/>
          <a:ln w="1905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4" name="Google Shape;254;p7"/>
          <p:cNvCxnSpPr/>
          <p:nvPr/>
        </p:nvCxnSpPr>
        <p:spPr>
          <a:xfrm>
            <a:off x="6080760" y="1746504"/>
            <a:ext cx="914" cy="704088"/>
          </a:xfrm>
          <a:prstGeom prst="straightConnector1">
            <a:avLst/>
          </a:prstGeom>
          <a:noFill/>
          <a:ln w="1905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5" name="Google Shape;255;p7"/>
          <p:cNvCxnSpPr/>
          <p:nvPr/>
        </p:nvCxnSpPr>
        <p:spPr>
          <a:xfrm>
            <a:off x="6080760" y="1746504"/>
            <a:ext cx="411480" cy="914"/>
          </a:xfrm>
          <a:prstGeom prst="straightConnector1">
            <a:avLst/>
          </a:prstGeom>
          <a:noFill/>
          <a:ln w="1905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7"/>
          <p:cNvSpPr/>
          <p:nvPr/>
        </p:nvSpPr>
        <p:spPr>
          <a:xfrm>
            <a:off x="6437376" y="1691640"/>
            <a:ext cx="109728" cy="109728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5422392" y="188823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3D8FA0"/>
                </a:solidFill>
                <a:latin typeface="Calibri"/>
                <a:ea typeface="Calibri"/>
                <a:cs typeface="Calibri"/>
                <a:sym typeface="Calibri"/>
              </a:rPr>
              <a:t>preempt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369975" y="557797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Process State Diagram: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DC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1A2E3A"/>
                </a:solidFill>
                <a:latin typeface="Arial Black"/>
                <a:ea typeface="Arial Black"/>
                <a:cs typeface="Arial Black"/>
                <a:sym typeface="Arial Black"/>
              </a:rPr>
              <a:t>UNIX SECURITY &amp; FILE PERMISSIONS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65760" y="694944"/>
            <a:ext cx="2377440" cy="41148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274320" y="80467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Permission String Example: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274320" y="1115568"/>
            <a:ext cx="1965960" cy="640080"/>
          </a:xfrm>
          <a:prstGeom prst="rect">
            <a:avLst/>
          </a:prstGeom>
          <a:solidFill>
            <a:srgbClr val="1A2E3A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274320" y="1115568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lang="en-US" sz="20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274320" y="178308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(file/dir)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2377440" y="1115568"/>
            <a:ext cx="1965960" cy="640080"/>
          </a:xfrm>
          <a:prstGeom prst="rect">
            <a:avLst/>
          </a:prstGeom>
          <a:solidFill>
            <a:srgbClr val="3D8FA0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2377440" y="1115568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lang="en-US" sz="20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rwx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2377440" y="178308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(read/write/exec)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480560" y="1115568"/>
            <a:ext cx="1965960" cy="640080"/>
          </a:xfrm>
          <a:prstGeom prst="rect">
            <a:avLst/>
          </a:prstGeom>
          <a:solidFill>
            <a:srgbClr val="F0A500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4480560" y="1115568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lang="en-US" sz="20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r-x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480560" y="178308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Group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(read/exec)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583680" y="1115568"/>
            <a:ext cx="1965960" cy="640080"/>
          </a:xfrm>
          <a:prstGeom prst="rect">
            <a:avLst/>
          </a:prstGeom>
          <a:solidFill>
            <a:srgbClr val="E8892B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6583680" y="1115568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lang="en-US" sz="20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r--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6583680" y="178308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(read only)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274320" y="2395728"/>
            <a:ext cx="4160520" cy="2176272"/>
          </a:xfrm>
          <a:prstGeom prst="rect">
            <a:avLst/>
          </a:prstGeom>
          <a:solidFill>
            <a:srgbClr val="6AADBA">
              <a:alpha val="74901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11480" y="24505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chmod Commands: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11480" y="2743200"/>
            <a:ext cx="384048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3D8FA0"/>
                </a:solidFill>
                <a:latin typeface="Consolas"/>
                <a:ea typeface="Consolas"/>
                <a:cs typeface="Consolas"/>
                <a:sym typeface="Consolas"/>
              </a:rPr>
              <a:t>chmod 755 file  → rwxr-xr-x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3D8FA0"/>
                </a:solidFill>
                <a:latin typeface="Consolas"/>
                <a:ea typeface="Consolas"/>
                <a:cs typeface="Consolas"/>
                <a:sym typeface="Consolas"/>
              </a:rPr>
              <a:t>chmod 644 file  → rw-r--r--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3D8FA0"/>
                </a:solidFill>
                <a:latin typeface="Consolas"/>
                <a:ea typeface="Consolas"/>
                <a:cs typeface="Consolas"/>
                <a:sym typeface="Consolas"/>
              </a:rPr>
              <a:t>chmod +x file   → adds execute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3D8FA0"/>
                </a:solidFill>
                <a:latin typeface="Consolas"/>
                <a:ea typeface="Consolas"/>
                <a:cs typeface="Consolas"/>
                <a:sym typeface="Consolas"/>
              </a:rPr>
              <a:t>chown user file → change owner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3D8FA0"/>
                </a:solidFill>
                <a:latin typeface="Consolas"/>
                <a:ea typeface="Consolas"/>
                <a:cs typeface="Consolas"/>
                <a:sym typeface="Consolas"/>
              </a:rPr>
              <a:t>sudo            → run as superuser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663440" y="2395728"/>
            <a:ext cx="4114800" cy="2176272"/>
          </a:xfrm>
          <a:prstGeom prst="rect">
            <a:avLst/>
          </a:prstGeom>
          <a:solidFill>
            <a:srgbClr val="6AADBA">
              <a:alpha val="74901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4800600" y="245059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Security Features: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754880" y="2743200"/>
            <a:ext cx="38404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Multi-user isolation: </a:t>
            </a:r>
            <a:r>
              <a:rPr lang="en-US" sz="12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Each user has private files.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root/superuser: </a:t>
            </a:r>
            <a:r>
              <a:rPr lang="en-US" sz="12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Full system control.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SSH: </a:t>
            </a:r>
            <a:r>
              <a:rPr lang="en-US" sz="12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Secure remote login.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PAM: </a:t>
            </a:r>
            <a:r>
              <a:rPr lang="en-US" sz="12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Pluggable authentication.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1A2E3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Audit logs: </a:t>
            </a:r>
            <a:r>
              <a:rPr lang="en-US" sz="120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Track user activity.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DC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1A2E3A"/>
                </a:solidFill>
                <a:latin typeface="Arial Black"/>
                <a:ea typeface="Arial Black"/>
                <a:cs typeface="Arial Black"/>
                <a:sym typeface="Arial Black"/>
              </a:rPr>
              <a:t>UNIX VS LINUX — KEY DIFFERENCES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365760" y="694944"/>
            <a:ext cx="2377440" cy="41148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274320" y="804672"/>
            <a:ext cx="2103120" cy="475488"/>
          </a:xfrm>
          <a:prstGeom prst="rect">
            <a:avLst/>
          </a:prstGeom>
          <a:solidFill>
            <a:srgbClr val="1A2E3A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274320" y="804672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2423160" y="804672"/>
            <a:ext cx="3200400" cy="475488"/>
          </a:xfrm>
          <a:prstGeom prst="rect">
            <a:avLst/>
          </a:prstGeom>
          <a:solidFill>
            <a:srgbClr val="3D8FA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2423160" y="804672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5669280" y="804672"/>
            <a:ext cx="3200400" cy="475488"/>
          </a:xfrm>
          <a:prstGeom prst="rect">
            <a:avLst/>
          </a:prstGeom>
          <a:solidFill>
            <a:srgbClr val="3D8FA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5669280" y="804672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274320" y="1298448"/>
            <a:ext cx="2103120" cy="457200"/>
          </a:xfrm>
          <a:prstGeom prst="rect">
            <a:avLst/>
          </a:prstGeom>
          <a:solidFill>
            <a:srgbClr val="F0A500"/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329184" y="129844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2423160" y="1298448"/>
            <a:ext cx="3200400" cy="457200"/>
          </a:xfrm>
          <a:prstGeom prst="rect">
            <a:avLst/>
          </a:prstGeom>
          <a:solidFill>
            <a:srgbClr val="6AADBA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2478024" y="129844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Bell Labs, 1969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669280" y="1298448"/>
            <a:ext cx="3200400" cy="457200"/>
          </a:xfrm>
          <a:prstGeom prst="rect">
            <a:avLst/>
          </a:prstGeom>
          <a:solidFill>
            <a:srgbClr val="6AADBA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5724144" y="129844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Linus Torvalds, 1991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274320" y="1773936"/>
            <a:ext cx="2103120" cy="457200"/>
          </a:xfrm>
          <a:prstGeom prst="rect">
            <a:avLst/>
          </a:prstGeom>
          <a:solidFill>
            <a:srgbClr val="F0A500"/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329184" y="1773936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License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2423160" y="1773936"/>
            <a:ext cx="3200400" cy="457200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2478024" y="177393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Proprietary (mostly)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5669280" y="1773936"/>
            <a:ext cx="3200400" cy="457200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5724144" y="177393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Open source (GPL)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74320" y="2249424"/>
            <a:ext cx="2103120" cy="457200"/>
          </a:xfrm>
          <a:prstGeom prst="rect">
            <a:avLst/>
          </a:prstGeom>
          <a:solidFill>
            <a:srgbClr val="F0A500"/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329184" y="224942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2423160" y="2249424"/>
            <a:ext cx="3200400" cy="457200"/>
          </a:xfrm>
          <a:prstGeom prst="rect">
            <a:avLst/>
          </a:prstGeom>
          <a:solidFill>
            <a:srgbClr val="6AADBA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2478024" y="224942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Expensive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5669280" y="2249424"/>
            <a:ext cx="3200400" cy="457200"/>
          </a:xfrm>
          <a:prstGeom prst="rect">
            <a:avLst/>
          </a:prstGeom>
          <a:solidFill>
            <a:srgbClr val="6AADBA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5724144" y="224942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Free to use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274320" y="2724912"/>
            <a:ext cx="2103120" cy="457200"/>
          </a:xfrm>
          <a:prstGeom prst="rect">
            <a:avLst/>
          </a:prstGeom>
          <a:solidFill>
            <a:srgbClr val="F0A500"/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329184" y="272491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Code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2423160" y="2724912"/>
            <a:ext cx="3200400" cy="457200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2478024" y="272491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Closed (mostly)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5669280" y="2724912"/>
            <a:ext cx="3200400" cy="457200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5724144" y="272491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Fully open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274320" y="3200400"/>
            <a:ext cx="2103120" cy="457200"/>
          </a:xfrm>
          <a:prstGeom prst="rect">
            <a:avLst/>
          </a:prstGeom>
          <a:solidFill>
            <a:srgbClr val="F0A500"/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329184" y="32004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Portability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2423160" y="3200400"/>
            <a:ext cx="3200400" cy="457200"/>
          </a:xfrm>
          <a:prstGeom prst="rect">
            <a:avLst/>
          </a:prstGeom>
          <a:solidFill>
            <a:srgbClr val="6AADBA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2478024" y="32004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Limited hardware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5669280" y="3200400"/>
            <a:ext cx="3200400" cy="457200"/>
          </a:xfrm>
          <a:prstGeom prst="rect">
            <a:avLst/>
          </a:prstGeom>
          <a:solidFill>
            <a:srgbClr val="6AADBA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5724144" y="32004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Wide hardware support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274320" y="3675888"/>
            <a:ext cx="2103120" cy="457200"/>
          </a:xfrm>
          <a:prstGeom prst="rect">
            <a:avLst/>
          </a:prstGeom>
          <a:solidFill>
            <a:srgbClr val="F0A500"/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329184" y="367588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2423160" y="3675888"/>
            <a:ext cx="3200400" cy="457200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2478024" y="367588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Solaris, HP-UX, AIX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5669280" y="3675888"/>
            <a:ext cx="3200400" cy="457200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5724144" y="367588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Ubuntu, Fedora, Debian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274320" y="4151376"/>
            <a:ext cx="2103120" cy="457200"/>
          </a:xfrm>
          <a:prstGeom prst="rect">
            <a:avLst/>
          </a:prstGeom>
          <a:solidFill>
            <a:srgbClr val="F0A500"/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329184" y="4151376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2423160" y="4151376"/>
            <a:ext cx="3200400" cy="457200"/>
          </a:xfrm>
          <a:prstGeom prst="rect">
            <a:avLst/>
          </a:prstGeom>
          <a:solidFill>
            <a:srgbClr val="6AADBA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2478024" y="415137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Enterprises, servers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5669280" y="4151376"/>
            <a:ext cx="3200400" cy="457200"/>
          </a:xfrm>
          <a:prstGeom prst="rect">
            <a:avLst/>
          </a:prstGeom>
          <a:solidFill>
            <a:srgbClr val="6AADBA">
              <a:alpha val="85098"/>
            </a:srgbClr>
          </a:solidFill>
          <a:ln w="9525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5724144" y="415137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Everyone — servers to desktops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DC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1A2E3A"/>
                </a:solidFill>
                <a:latin typeface="Arial Black"/>
                <a:ea typeface="Arial Black"/>
                <a:cs typeface="Arial Black"/>
                <a:sym typeface="Arial Black"/>
              </a:rPr>
              <a:t>ADVANTAGES OF UNIX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65760" y="694944"/>
            <a:ext cx="2377440" cy="41148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274320" y="804672"/>
            <a:ext cx="2651760" cy="178308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0" name="Google Shape;360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0160" y="987552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0"/>
          <p:cNvSpPr/>
          <p:nvPr/>
        </p:nvSpPr>
        <p:spPr>
          <a:xfrm>
            <a:off x="274320" y="1673352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3200400" y="804672"/>
            <a:ext cx="2651760" cy="17830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3" name="Google Shape;363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6240" y="987552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0"/>
          <p:cNvSpPr/>
          <p:nvPr/>
        </p:nvSpPr>
        <p:spPr>
          <a:xfrm>
            <a:off x="3200400" y="1673352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Multi-User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126480" y="804672"/>
            <a:ext cx="2651760" cy="178308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6" name="Google Shape;366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32320" y="987552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0"/>
          <p:cNvSpPr/>
          <p:nvPr/>
        </p:nvSpPr>
        <p:spPr>
          <a:xfrm>
            <a:off x="6126480" y="1673352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 Use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274320" y="2770632"/>
            <a:ext cx="2651760" cy="17830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9" name="Google Shape;369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80160" y="2953512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0"/>
          <p:cNvSpPr/>
          <p:nvPr/>
        </p:nvSpPr>
        <p:spPr>
          <a:xfrm>
            <a:off x="274320" y="3639312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Built-in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3200400" y="2770632"/>
            <a:ext cx="2651760" cy="178308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2" name="Google Shape;372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06240" y="2953512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0"/>
          <p:cNvSpPr/>
          <p:nvPr/>
        </p:nvSpPr>
        <p:spPr>
          <a:xfrm>
            <a:off x="3200400" y="3639312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Stable &amp;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Reliable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6126480" y="2770632"/>
            <a:ext cx="2651760" cy="17830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" name="Google Shape;375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32320" y="2953512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0"/>
          <p:cNvSpPr/>
          <p:nvPr/>
        </p:nvSpPr>
        <p:spPr>
          <a:xfrm>
            <a:off x="6126480" y="3639312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Powerful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8778240" y="804672"/>
            <a:ext cx="45720" cy="3767328"/>
          </a:xfrm>
          <a:prstGeom prst="rect">
            <a:avLst/>
          </a:prstGeom>
          <a:solidFill>
            <a:srgbClr val="6AADBA">
              <a:alpha val="74901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DC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1A2E3A"/>
                </a:solidFill>
                <a:latin typeface="Arial Black"/>
                <a:ea typeface="Arial Black"/>
                <a:cs typeface="Arial Black"/>
                <a:sym typeface="Arial Black"/>
              </a:rPr>
              <a:t>UNIX IN THE REAL WORLD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365760" y="694944"/>
            <a:ext cx="2377440" cy="41148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274320" y="804672"/>
            <a:ext cx="8595360" cy="3749040"/>
          </a:xfrm>
          <a:prstGeom prst="rect">
            <a:avLst/>
          </a:prstGeom>
          <a:solidFill>
            <a:srgbClr val="6AADBA">
              <a:alpha val="74901"/>
            </a:srgbClr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457200" y="896112"/>
            <a:ext cx="822960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Web Servers: </a:t>
            </a:r>
            <a:r>
              <a:rPr lang="en-US" sz="13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Apache and Nginx run on UNIX/Linux servers powering over 70% of the internet.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Supercomputers: </a:t>
            </a:r>
            <a:r>
              <a:rPr lang="en-US" sz="13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99%+ of the world's top 500 supercomputers run Linux (UNIX-based).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Cloud Computing: </a:t>
            </a:r>
            <a:r>
              <a:rPr lang="en-US" sz="13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AWS, Google Cloud, and Azure rely on Linux/UNIX for infrastructure.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macOS &amp; iOS: </a:t>
            </a:r>
            <a:r>
              <a:rPr lang="en-US" sz="13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Apple's macOS and iOS are built on a UNIX foundation (Darwin/BSD).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Android: </a:t>
            </a:r>
            <a:r>
              <a:rPr lang="en-US" sz="13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Android uses the Linux kernel — a direct UNIX descendant.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Banking &amp; Finance: </a:t>
            </a:r>
            <a:r>
              <a:rPr lang="en-US" sz="13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Core banking systems and ATMs often run on UNIX (AIX, Solaris).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E3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Space &amp; Military: </a:t>
            </a:r>
            <a:r>
              <a:rPr lang="en-US" sz="1350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NASA, SpaceX, and defense systems use UNIX-based systems for reliability.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DC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2200"/>
              <a:buFont typeface="Arial Black"/>
              <a:buNone/>
            </a:pPr>
            <a:r>
              <a:rPr lang="en-US" sz="2200" b="1">
                <a:solidFill>
                  <a:srgbClr val="1A2E3A"/>
                </a:solidFill>
                <a:latin typeface="Arial Black"/>
                <a:ea typeface="Arial Black"/>
                <a:cs typeface="Arial Black"/>
                <a:sym typeface="Arial Black"/>
              </a:rPr>
              <a:t>SUMMARY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365760" y="694944"/>
            <a:ext cx="2377440" cy="41148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274320" y="804672"/>
            <a:ext cx="4160520" cy="1170432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365760" y="804672"/>
            <a:ext cx="64008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🏛️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1005840" y="896112"/>
            <a:ext cx="329184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UNIX was born at Bell Labs in 1969 — the ancestor of modern operating systems.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4709160" y="804672"/>
            <a:ext cx="4160520" cy="1170432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4800600" y="804672"/>
            <a:ext cx="64008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5440680" y="896112"/>
            <a:ext cx="329184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on a kernel, shell, and hierarchical file system architecture.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274320" y="2103120"/>
            <a:ext cx="4160520" cy="1170432"/>
          </a:xfrm>
          <a:prstGeom prst="rect">
            <a:avLst/>
          </a:prstGeom>
          <a:solidFill>
            <a:srgbClr val="6AADBA">
              <a:alpha val="80000"/>
            </a:srgbClr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365760" y="2103120"/>
            <a:ext cx="64008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1005840" y="2194560"/>
            <a:ext cx="329184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Everything is a file — devices, processes, and data all follow a unified model.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709160" y="2103120"/>
            <a:ext cx="4160520" cy="1170432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4800600" y="2103120"/>
            <a:ext cx="64008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5440680" y="2194560"/>
            <a:ext cx="329184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 security via user permissions, root access, and SSH.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274320" y="3401568"/>
            <a:ext cx="4160520" cy="1170432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365760" y="3401568"/>
            <a:ext cx="64008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1005840" y="3493008"/>
            <a:ext cx="329184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Powerful multitasking — fork, exec, daemons, and signals.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4709160" y="3401568"/>
            <a:ext cx="4160520" cy="1170432"/>
          </a:xfrm>
          <a:prstGeom prst="rect">
            <a:avLst/>
          </a:prstGeom>
          <a:solidFill>
            <a:srgbClr val="6AADBA">
              <a:alpha val="80000"/>
            </a:srgbClr>
          </a:solidFill>
          <a:ln w="12700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4800600" y="3401568"/>
            <a:ext cx="64008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5440680" y="3493008"/>
            <a:ext cx="329184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 of Linux, macOS, Android, and the cloud infrastructure of today.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DC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3"/>
          <p:cNvSpPr/>
          <p:nvPr/>
        </p:nvSpPr>
        <p:spPr>
          <a:xfrm>
            <a:off x="4754880" y="365760"/>
            <a:ext cx="1097280" cy="137160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5943600" y="182880"/>
            <a:ext cx="822960" cy="192024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6858000" y="548640"/>
            <a:ext cx="1005840" cy="128016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7955280" y="274320"/>
            <a:ext cx="731520" cy="1828800"/>
          </a:xfrm>
          <a:prstGeom prst="rect">
            <a:avLst/>
          </a:prstGeom>
          <a:solidFill>
            <a:srgbClr val="6AADBA"/>
          </a:solidFill>
          <a:ln w="12700" cap="flat" cmpd="sng">
            <a:solidFill>
              <a:srgbClr val="6AA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4937760" y="1783080"/>
            <a:ext cx="914400" cy="118872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5943600" y="2148840"/>
            <a:ext cx="822960" cy="1005840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6903720" y="1874520"/>
            <a:ext cx="960120" cy="1280160"/>
          </a:xfrm>
          <a:prstGeom prst="rect">
            <a:avLst/>
          </a:prstGeom>
          <a:solidFill>
            <a:srgbClr val="8E44AD"/>
          </a:solidFill>
          <a:ln w="12700" cap="flat" cmpd="sng">
            <a:solidFill>
              <a:srgbClr val="8E44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7955280" y="2148840"/>
            <a:ext cx="731520" cy="1005840"/>
          </a:xfrm>
          <a:prstGeom prst="rect">
            <a:avLst/>
          </a:prstGeom>
          <a:solidFill>
            <a:srgbClr val="3D8FA0"/>
          </a:solidFill>
          <a:ln w="12700" cap="flat" cmpd="sng">
            <a:solidFill>
              <a:srgbClr val="3D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3"/>
          <p:cNvSpPr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8FA0"/>
              </a:buClr>
              <a:buSzPts val="4200"/>
              <a:buFont typeface="Arial Black"/>
              <a:buNone/>
            </a:pPr>
            <a:r>
              <a:rPr lang="en-US" sz="4200" b="1">
                <a:solidFill>
                  <a:srgbClr val="3D8FA0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457200" y="251460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A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1A2E3A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457200" y="3063240"/>
            <a:ext cx="3657600" cy="54864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0" y="4818888"/>
            <a:ext cx="9144000" cy="18288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0" y="4818888"/>
            <a:ext cx="320040" cy="182880"/>
          </a:xfrm>
          <a:prstGeom prst="rect">
            <a:avLst/>
          </a:prstGeom>
          <a:solidFill>
            <a:srgbClr val="E8892B"/>
          </a:solidFill>
          <a:ln w="12700" cap="flat" cmpd="sng">
            <a:solidFill>
              <a:srgbClr val="E88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</Words>
  <Application>Microsoft Office PowerPoint</Application>
  <PresentationFormat>On-screen Show (16:9)</PresentationFormat>
  <Paragraphs>232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Consolas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Swapnil Nag Swachha</cp:lastModifiedBy>
  <cp:revision>1</cp:revision>
  <dcterms:created xsi:type="dcterms:W3CDTF">2026-04-25T11:10:58Z</dcterms:created>
  <dcterms:modified xsi:type="dcterms:W3CDTF">2026-04-26T11:29:26Z</dcterms:modified>
</cp:coreProperties>
</file>